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Whole team: welcome the audience, introduce the two-task structure (Task A = SM identification, Task B = BSM validation) and the speaker line-up.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FCC-ee basics: 100 km ring, four run energies.</a:t>
            </a:r>
          </a:p>
          <a:p>
            <a:r>
              <a:t>Emphasize what CLD gives us: tracking, calorimetry, 2T field.</a:t>
            </a:r>
          </a:p>
          <a:p>
            <a:r>
              <a:t>Set up the framing for the whole talk: every sample is anonymised -- the audience (and we) don't know what they are yet.</a:t>
            </a:r>
          </a:p>
          <a:p>
            <a:r>
              <a:t>Point out the GitHub repo link for anyone who wants to follow along with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IDEA-collaboration agreement up front: Task A is the CLD detector's own analysis at 160 and 365 GeV; Task B is both collaborations independently presenting whatever excesses they found.</a:t>
            </a:r>
          </a:p>
          <a:p>
            <a:r>
              <a:t>Walk through the four-step method.</a:t>
            </a:r>
          </a:p>
          <a:p>
            <a:r>
              <a:t>Flag immediately: at 160/240 GeV we stop after step 1 -- no excess there, so don't over-promise for that part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hand-off: Kobe covers the 160 GeV SM identification (Task A, step 1 only).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cut-based matching: jets, leptons, b-tagging, MET.</a:t>
            </a:r>
          </a:p>
          <a:p>
            <a:r>
              <a:t>Stress the efficiencies are toy assumptions (*), not measured.</a:t>
            </a:r>
          </a:p>
          <a:p>
            <a:r>
              <a:t>Reiterate: no excess search happens at 160 GeV.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both mass plots side by side.</a:t>
            </a:r>
          </a:p>
          <a:p>
            <a:r>
              <a:t>Point out where each peak lands vs. expectation (125 GeV Higgs, sqrt(s)=160 GeV WW).</a:t>
            </a:r>
          </a:p>
          <a:p>
            <a:r>
              <a:t>Note both agree with the reported points -- nothing unusual here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off to Saurav for the 365 GeV SM identification (all five samples).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365 GeV is the richest working point -- all five processes get assigned.</a:t>
            </a:r>
          </a:p>
          <a:p>
            <a:r>
              <a:t>Briefly mention more jets + b-tagging separates the final states well.</a:t>
            </a:r>
          </a:p>
          <a:p>
            <a:r>
              <a:t>Keep it quick, this sets up the two 365 GeV highlight plots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ttbar Feynman diagram briefly to orient the audience.</a:t>
            </a:r>
          </a:p>
          <a:p>
            <a:r>
              <a:t>Highlight this is the best chi2/ndof in the whole study (0.81).</a:t>
            </a:r>
          </a:p>
          <a:p>
            <a:r>
              <a:t>ZZ peaks cleanly at mZ -- another clean SM identification.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off to Andrea -- pivot from SM identification into the excess/BSM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pivot slide of the whole talk.</a:t>
            </a:r>
          </a:p>
          <a:p>
            <a:r>
              <a:t>Show clearly: summed SM does not cover the excess at either energy.</a:t>
            </a:r>
          </a:p>
          <a:p>
            <a:r>
              <a:t>Say explicitly: this is why we move from evidence to interpretation (method step 2 to step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tight selection that isolates the excess.</a:t>
            </a:r>
          </a:p>
          <a:p>
            <a:r>
              <a:t>Introduce the HNL hypothesis, mass ~40 GeV.</a:t>
            </a:r>
          </a:p>
          <a:p>
            <a:r>
              <a:t>Resonance fit beats flat background (4.47 vs 5.81) -- but this alone doesn't prove HNL, just that a bump fits better than no bump.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independence: MET is a different observable, not a re-test of the same variable.</a:t>
            </a:r>
          </a:p>
          <a:p>
            <a:r>
              <a:t>chi2/ndof = 1.14 is a strong agreement -- use this to build confidence before the significance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only the 7 sigma headline number -- don't cite the other tiers from the source, we're not confident they're the same definition.</a:t>
            </a:r>
          </a:p>
          <a:p>
            <a:r>
              <a:t>Caveat clearly: no look-elsewhere correction. Don't over-claim discovery.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off to Jurjan for the 365 GeV excess and pairing/reconstruction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tighter 365 GeV selection.</a:t>
            </a:r>
          </a:p>
          <a:p>
            <a:r>
              <a:t>Explain the original method's fixed jet pairing and its acknowledged weakness (quote the source's own caveat).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the original pairing is only right 1/3 of the time, by construction.</a:t>
            </a:r>
          </a:p>
          <a:p>
            <a:r>
              <a:t>Constrained (closest to mW) pairing: 88%, peaks narrow sharply.</a:t>
            </a:r>
          </a:p>
          <a:p>
            <a:r>
              <a:t>Be careful with the conclusion: this supports better reconstruction, it is not by itself evidence for an HNL.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Chi2 comparison strongly disfavors the SM-tail alternative (4.12 vs 215.55).</a:t>
            </a:r>
          </a:p>
          <a:p>
            <a:r>
              <a:t>Cite 6.46 sigma but flag clearly: the background behind that number is not established in the source -- treat it as quoted, not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Jurjan bridges into the closing section: consistency recap, then open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open question in turn:</a:t>
            </a:r>
          </a:p>
          <a:p>
            <a:r>
              <a:t>- 40 vs 150 GeV mass tension -- flag it, don't explain it away.</a:t>
            </a:r>
          </a:p>
          <a:p>
            <a:r>
              <a:t>- 365 GeV background normalisation not established.</a:t>
            </a:r>
          </a:p>
          <a:p>
            <a:r>
              <a:t>- No real trials count, so no look-elsewhere correction applied.</a:t>
            </a:r>
          </a:p>
          <a:p>
            <a:r>
              <a:t>- All cut efficiencies are toy assumptions.</a:t>
            </a:r>
          </a:p>
          <a:p>
            <a:r>
              <a:t>Land on: rejecting one background model is not proof of an HNL.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full table -- every SM process now has a chi2 comparison.</a:t>
            </a:r>
          </a:p>
          <a:p>
            <a:r>
              <a:t>Flag the dagger-marked rows explicitly as lower-precision, second-pass digitisation -- don't present them with the same confidence as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the table: resonance wins at both energies.</a:t>
            </a:r>
          </a:p>
          <a:p>
            <a:r>
              <a:t>Significance: 7 sigma at 91 GeV, 6.46 sigma at 365 GeV -- quoted numbers only.</a:t>
            </a:r>
          </a:p>
          <a:p>
            <a:r>
              <a:t>Reiterate the caveat: this supports the interpretation, it does not prove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summary: seven SM processes traced, two excesses found, both open.</a:t>
            </a:r>
          </a:p>
          <a:p>
            <a:r>
              <a:t>End on the open question to the audience: "what do you think is really in there?" -- invite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tabrianti/fcc-ee-cld-bnd-school" TargetMode="Externa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03366"/>
                </a:solidFill>
                <a:latin typeface="Helvetica Neue"/>
              </a:rPr>
              <a:t>Team Project: FCC-ee, the CLD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4A5568"/>
                </a:solidFill>
                <a:latin typeface="Helvetica Neue"/>
              </a:rPr>
              <a:t>FCC-ee with the CLD Detector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4297680"/>
            <a:ext cx="8716975" cy="1051560"/>
          </a:xfrm>
          <a:prstGeom prst="rect">
            <a:avLst/>
          </a:prstGeom>
          <a:solidFill>
            <a:srgbClr val="F8F9FA"/>
          </a:solidFill>
          <a:ln w="2794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>
                <a:solidFill>
                  <a:srgbClr val="003366"/>
                </a:solidFill>
                <a:latin typeface="Helvetica Neue"/>
              </a:rPr>
              <a:t>FCC-ee CLD Collaboration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003366"/>
                </a:solidFill>
                <a:latin typeface="Helvetica Neue"/>
              </a:rPr>
              <a:t>Saurav Bania, Greta Brianti, Jurjan Bootsma, Vincenzo Del Piano, Kobe Degeetere, Andrea Maria, Sergei Solokhin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26561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Helvetica Neue"/>
              </a:rPr>
              <a:t>FCC-ee and the CLD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9144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9C4D6"/>
                </a:solidFill>
                <a:latin typeface="Helvetica Neue"/>
              </a:rPr>
              <a:t>INTRODUCTION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6446520"/>
            <a:ext cx="1219169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830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18096"/>
                </a:solidFill>
                <a:latin typeface="Helvetica Neue"/>
              </a:rPr>
              <a:t>FCC-ee CLD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047" y="648309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102E"/>
                </a:solidFill>
                <a:latin typeface="Helvetica Neue"/>
              </a:rPr>
              <a:t>Vincenzo Del Piano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8309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Helvetica Neue"/>
              </a:rPr>
              <a:t>Slide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77295" cy="13055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indent="-201168" marL="201168">
              <a:lnSpc>
                <a:spcPct val="118000"/>
              </a:lnSpc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Helvetica Neue"/>
              </a:rPr>
              <a:t>FCC-ee: a 100 km e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+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e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−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 collider. Four energies: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91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 (Z pole),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160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 (WW),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240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 (ZH),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365 GeV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 (t̅t).</a:t>
            </a:r>
          </a:p>
          <a:p>
            <a:pPr indent="-201168" marL="201168">
              <a:lnSpc>
                <a:spcPct val="118000"/>
              </a:lnSpc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Helvetica Neue"/>
              </a:rPr>
              <a:t>CLD gives us tracking, calorimetry and a 2 T field — enough to reconstruct jets, leptons and missing energy.</a:t>
            </a:r>
          </a:p>
          <a:p>
            <a:pPr indent="-201168" marL="201168">
              <a:lnSpc>
                <a:spcPct val="118000"/>
              </a:lnSpc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Helvetica Neue"/>
              </a:rPr>
              <a:t>Each energy hands us several </a:t>
            </a:r>
            <a:r>
              <a:rPr sz="1500" b="1">
                <a:solidFill>
                  <a:srgbClr val="003366"/>
                </a:solidFill>
                <a:latin typeface="Helvetica Neue"/>
              </a:rPr>
              <a:t>anonymised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 samples. We don't know what they are yet.</a:t>
            </a:r>
          </a:p>
          <a:p>
            <a:pPr indent="-201168" marL="201168">
              <a:lnSpc>
                <a:spcPct val="118000"/>
              </a:lnSpc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Helvetica Neue"/>
              </a:rPr>
              <a:t>Code and analysis pipeline: </a:t>
            </a:r>
            <a:r>
              <a:rPr sz="1500" u="sng">
                <a:solidFill>
                  <a:srgbClr val="1A5AA6"/>
                </a:solidFill>
                <a:latin typeface="Helvetica Neue"/>
                <a:hlinkClick r:id="rId2"/>
              </a:rPr>
              <a:t>github.com/gretabrianti/fcc-ee-cld-bnd-school</a:t>
            </a:r>
          </a:p>
        </p:txBody>
      </p:sp>
      <p:pic>
        <p:nvPicPr>
          <p:cNvPr id="11" name="Picture 10" descr="cld_det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2274" y="2274823"/>
            <a:ext cx="3927145" cy="38059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32274" y="6099048"/>
            <a:ext cx="392714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718096"/>
                </a:solidFill>
                <a:latin typeface="Helvetica Neue"/>
              </a:rPr>
              <a:t>CLD detector — original FCC-ee CLD collaboration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26561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Helvetica Neue"/>
              </a:rPr>
              <a:t>Method &amp; Task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9144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9C4D6"/>
                </a:solidFill>
                <a:latin typeface="Helvetica Neue"/>
              </a:rPr>
              <a:t>INTRODUCTION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6446520"/>
            <a:ext cx="1219169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830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18096"/>
                </a:solidFill>
                <a:latin typeface="Helvetica Neue"/>
              </a:rPr>
              <a:t>FCC-ee CLD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047" y="648309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102E"/>
                </a:solidFill>
                <a:latin typeface="Helvetica Neue"/>
              </a:rPr>
              <a:t>Vincenzo Del Piano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8309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Helvetica Neue"/>
              </a:rPr>
              <a:t>Slide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22576"/>
            <a:ext cx="1127729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Helvetica Neue"/>
              </a:rPr>
              <a:t>Agreed with the IDEA collaboration: </a:t>
            </a:r>
            <a:r>
              <a:rPr sz="1500" b="1">
                <a:solidFill>
                  <a:srgbClr val="003366"/>
                </a:solidFill>
                <a:latin typeface="Helvetica Neue"/>
              </a:rPr>
              <a:t>Task A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 — the CLD detector studies center-of-mass energies of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160 GeV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 and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365 GeV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. </a:t>
            </a:r>
            <a:r>
              <a:rPr sz="1500" b="1">
                <a:solidFill>
                  <a:srgbClr val="003366"/>
                </a:solidFill>
                <a:latin typeface="Helvetica Neue"/>
              </a:rPr>
              <a:t>Task B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 — both collaborations present the found excesses.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1067" y="3191256"/>
            <a:ext cx="1737360" cy="914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03366"/>
                </a:solidFill>
                <a:latin typeface="Helvetica Neue"/>
              </a:rPr>
              <a:t>1</a:t>
            </a:r>
          </a:p>
          <a:p>
            <a:pPr algn="ctr"/>
            <a:r>
              <a:rPr sz="1200" b="1">
                <a:solidFill>
                  <a:srgbClr val="003366"/>
                </a:solidFill>
                <a:latin typeface="Helvetica Neue"/>
              </a:rPr>
              <a:t>Define the SM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1067" y="3191256"/>
            <a:ext cx="173736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8427" y="3483864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C8102E"/>
                </a:solidFill>
                <a:latin typeface="Helvetica Neue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8467" y="3191256"/>
            <a:ext cx="1737360" cy="914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03366"/>
                </a:solidFill>
                <a:latin typeface="Helvetica Neue"/>
              </a:rPr>
              <a:t>2</a:t>
            </a:r>
          </a:p>
          <a:p>
            <a:pPr algn="ctr"/>
            <a:r>
              <a:rPr sz="1200" b="1">
                <a:solidFill>
                  <a:srgbClr val="003366"/>
                </a:solidFill>
                <a:latin typeface="Helvetica Neue"/>
              </a:rPr>
              <a:t>Find an excess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98467" y="3191256"/>
            <a:ext cx="173736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35827" y="3483864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C8102E"/>
                </a:solidFill>
                <a:latin typeface="Helvetica Neue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5867" y="3191256"/>
            <a:ext cx="1737360" cy="914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03366"/>
                </a:solidFill>
                <a:latin typeface="Helvetica Neue"/>
              </a:rPr>
              <a:t>3</a:t>
            </a:r>
          </a:p>
          <a:p>
            <a:pPr algn="ctr"/>
            <a:r>
              <a:rPr sz="1200" b="1">
                <a:solidFill>
                  <a:srgbClr val="003366"/>
                </a:solidFill>
                <a:latin typeface="Helvetica Neue"/>
              </a:rPr>
              <a:t>Interpret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5867" y="3191256"/>
            <a:ext cx="173736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3227" y="3483864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C8102E"/>
                </a:solidFill>
                <a:latin typeface="Helvetica Neue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13267" y="3191256"/>
            <a:ext cx="1737360" cy="914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03366"/>
                </a:solidFill>
                <a:latin typeface="Helvetica Neue"/>
              </a:rPr>
              <a:t>4</a:t>
            </a:r>
          </a:p>
          <a:p>
            <a:pPr algn="ctr"/>
            <a:r>
              <a:rPr sz="1200" b="1">
                <a:solidFill>
                  <a:srgbClr val="003366"/>
                </a:solidFill>
                <a:latin typeface="Helvetica Neue"/>
              </a:rPr>
              <a:t>Validate 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13267" y="3191256"/>
            <a:ext cx="173736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42816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Helvetica Neue"/>
              </a:rPr>
              <a:t>At </a:t>
            </a:r>
            <a:r>
              <a:rPr sz="1400" b="1">
                <a:solidFill>
                  <a:srgbClr val="C8102E"/>
                </a:solidFill>
                <a:latin typeface="Helvetica Neue"/>
              </a:rPr>
              <a:t>91</a:t>
            </a:r>
            <a:r>
              <a:rPr sz="1400" b="0">
                <a:solidFill>
                  <a:srgbClr val="222222"/>
                </a:solidFill>
                <a:latin typeface="Helvetica Neue"/>
              </a:rPr>
              <a:t> and </a:t>
            </a:r>
            <a:r>
              <a:rPr sz="1400" b="1">
                <a:solidFill>
                  <a:srgbClr val="C8102E"/>
                </a:solidFill>
                <a:latin typeface="Helvetica Neue"/>
              </a:rPr>
              <a:t>365 GeV</a:t>
            </a:r>
            <a:r>
              <a:rPr sz="1400" b="0">
                <a:solidFill>
                  <a:srgbClr val="222222"/>
                </a:solidFill>
                <a:latin typeface="Helvetica Neue"/>
              </a:rPr>
              <a:t> we found an excess — all four steps apply. At </a:t>
            </a:r>
            <a:r>
              <a:rPr sz="1400" b="1">
                <a:solidFill>
                  <a:srgbClr val="C8102E"/>
                </a:solidFill>
                <a:latin typeface="Helvetica Neue"/>
              </a:rPr>
              <a:t>160</a:t>
            </a:r>
            <a:r>
              <a:rPr sz="1400" b="0">
                <a:solidFill>
                  <a:srgbClr val="222222"/>
                </a:solidFill>
                <a:latin typeface="Helvetica Neue"/>
              </a:rPr>
              <a:t> and </a:t>
            </a:r>
            <a:r>
              <a:rPr sz="1400" b="1">
                <a:solidFill>
                  <a:srgbClr val="C8102E"/>
                </a:solidFill>
                <a:latin typeface="Helvetica Neue"/>
              </a:rPr>
              <a:t>240 GeV</a:t>
            </a:r>
            <a:r>
              <a:rPr sz="1400" b="0">
                <a:solidFill>
                  <a:srgbClr val="222222"/>
                </a:solidFill>
                <a:latin typeface="Helvetica Neue"/>
              </a:rPr>
              <a:t>, no excess was found. We stop after step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Helvetica Neue"/>
              </a:rPr>
              <a:t>SM process identification at 160 GeV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B9C4D6"/>
                </a:solidFill>
                <a:latin typeface="Helvetica Neue"/>
              </a:rPr>
              <a:t>Reconstructing the known processes before studying the excess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0" y="3977639"/>
            <a:ext cx="1920240" cy="0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404164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Helvetica Neue"/>
              </a:rPr>
              <a:t>Next: </a:t>
            </a:r>
            <a:r>
              <a:rPr sz="1300" b="1">
                <a:solidFill>
                  <a:srgbClr val="FFFFFF"/>
                </a:solidFill>
                <a:latin typeface="Helvetica Neue"/>
              </a:rPr>
              <a:t>Kobe Degeetere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26561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Helvetica Neue"/>
              </a:rPr>
              <a:t>Task A: identifying the samples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9144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9C4D6"/>
                </a:solidFill>
                <a:latin typeface="Helvetica Neue"/>
              </a:rPr>
              <a:t>SM · 160 GEV · STEP 1 ONLY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6446520"/>
            <a:ext cx="1219169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830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18096"/>
                </a:solidFill>
                <a:latin typeface="Helvetica Neue"/>
              </a:rPr>
              <a:t>FCC-ee CLD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047" y="648309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102E"/>
                </a:solidFill>
                <a:latin typeface="Helvetica Neue"/>
              </a:rPr>
              <a:t>Kobe Degeetere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8309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Helvetica Neue"/>
              </a:rPr>
              <a:t>Slide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77295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Helvetica Neue"/>
              </a:rPr>
              <a:t>Task A: match each anonymous sample to a known process, using cuts on jets, leptons, b-tagging and MET. Two of four samples are identified this way. No excess is searched for at this energy — step 1 of the method is all we need here.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520444"/>
          <a:ext cx="10241280" cy="11521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548640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003366"/>
                          </a:solidFill>
                          <a:latin typeface="Helvetica Neue"/>
                        </a:rPr>
                        <a:t>Process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003366"/>
                          </a:solidFill>
                          <a:latin typeface="Helvetica Neue"/>
                        </a:rPr>
                        <a:t>Key cuts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003366"/>
                          </a:solidFill>
                          <a:latin typeface="Helvetica Neue"/>
                        </a:rPr>
                        <a:t>Efficiency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Higgs (ννH, H→bb̅)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2 jets b-tag&gt;0.7, 0 leptons, MET cut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32.7%*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WW (semileptonic)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2 jets, 1 lepton, MET pT&gt;5 GeV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43.2%*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" y="288290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i="0">
                <a:solidFill>
                  <a:srgbClr val="718096"/>
                </a:solidFill>
                <a:latin typeface="Helvetica Neue"/>
              </a:rPr>
              <a:t>* assumed (toy), not measured — the talk gives cuts, not absolute yields.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26561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Helvetica Neue"/>
              </a:rPr>
              <a:t>Higgs and WW mass peaks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9144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9C4D6"/>
                </a:solidFill>
                <a:latin typeface="Helvetica Neue"/>
              </a:rPr>
              <a:t>SM · 160 GEV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6446520"/>
            <a:ext cx="1219169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830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18096"/>
                </a:solidFill>
                <a:latin typeface="Helvetica Neue"/>
              </a:rPr>
              <a:t>FCC-ee CLD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047" y="648309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102E"/>
                </a:solidFill>
                <a:latin typeface="Helvetica Neue"/>
              </a:rPr>
              <a:t>Kobe Degeetere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8309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Helvetica Neue"/>
              </a:rPr>
              <a:t>Slide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77295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Helvetica Neue"/>
              </a:rPr>
              <a:t>Higgs: the dijet mass peaks at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~125 GeV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. WW: the effective mass recovers close to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√s = 160 GeV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, as expected for a semileptonic decay. Both agree with the reported points at the peak.</a:t>
            </a:r>
          </a:p>
        </p:txBody>
      </p:sp>
      <p:pic>
        <p:nvPicPr>
          <p:cNvPr id="11" name="Picture 10" descr="08_mass_higgs_160G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7888"/>
            <a:ext cx="5538063" cy="4614026"/>
          </a:xfrm>
          <a:prstGeom prst="rect">
            <a:avLst/>
          </a:prstGeom>
        </p:spPr>
      </p:pic>
      <p:pic>
        <p:nvPicPr>
          <p:cNvPr id="12" name="Picture 11" descr="09_mass_ww_160G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1" y="1607888"/>
            <a:ext cx="5538063" cy="46140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Helvetica Neue"/>
              </a:rPr>
              <a:t>SM process identification at 365 GeV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B9C4D6"/>
                </a:solidFill>
                <a:latin typeface="Helvetica Neue"/>
              </a:rPr>
              <a:t>Five anonymous samples, five SM assignments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0" y="3977639"/>
            <a:ext cx="1920240" cy="0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404164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Helvetica Neue"/>
              </a:rPr>
              <a:t>Next: </a:t>
            </a:r>
            <a:r>
              <a:rPr sz="1300" b="1">
                <a:solidFill>
                  <a:srgbClr val="FFFFFF"/>
                </a:solidFill>
                <a:latin typeface="Helvetica Neue"/>
              </a:rPr>
              <a:t>Saurav Bania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26561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Helvetica Neue"/>
              </a:rPr>
              <a:t>All five samples 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9144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9C4D6"/>
                </a:solidFill>
                <a:latin typeface="Helvetica Neue"/>
              </a:rPr>
              <a:t>SM · 365 GEV · STEP 1 ONLY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6446520"/>
            <a:ext cx="1219169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830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18096"/>
                </a:solidFill>
                <a:latin typeface="Helvetica Neue"/>
              </a:rPr>
              <a:t>FCC-ee CLD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047" y="648309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102E"/>
                </a:solidFill>
                <a:latin typeface="Helvetica Neue"/>
              </a:rPr>
              <a:t>Saurav Bania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8309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Helvetica Neue"/>
              </a:rPr>
              <a:t>Slide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77295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Helvetica Neue"/>
              </a:rPr>
              <a:t>365 GeV is the most complete working point: all five samples get an assignment — t̅t, e⁺e⁻→ff̅, ZZ, ZH, WW. More jets are available here than at 160 GeV, so b-tagging separates these final states well.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520444"/>
          <a:ext cx="8412480" cy="2304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003366"/>
                          </a:solidFill>
                          <a:latin typeface="Helvetica Neue"/>
                        </a:rPr>
                        <a:t>Process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003366"/>
                          </a:solidFill>
                          <a:latin typeface="Helvetica Neue"/>
                        </a:rPr>
                        <a:t>Efficiency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t̅t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10.7%*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e⁺e⁻ → ff̅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10.2%*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ZZ → ℓℓqq̅ (X5)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8.7%*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ZH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5.4%*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WW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52.0%*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" y="403504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i="0">
                <a:solidFill>
                  <a:srgbClr val="718096"/>
                </a:solidFill>
                <a:latin typeface="Helvetica Neue"/>
              </a:rPr>
              <a:t>* assumed (toy), not measured.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26561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Helvetica Neue"/>
              </a:rPr>
              <a:t>Strongest evidence: t̅t and ZZ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9144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9C4D6"/>
                </a:solidFill>
                <a:latin typeface="Helvetica Neue"/>
              </a:rPr>
              <a:t>SM · 365 GEV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6446520"/>
            <a:ext cx="1219169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830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18096"/>
                </a:solidFill>
                <a:latin typeface="Helvetica Neue"/>
              </a:rPr>
              <a:t>FCC-ee CLD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047" y="648309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102E"/>
                </a:solidFill>
                <a:latin typeface="Helvetica Neue"/>
              </a:rPr>
              <a:t>Saurav Bania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8309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Helvetica Neue"/>
              </a:rPr>
              <a:t>Slide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77295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Helvetica Neue"/>
              </a:rPr>
              <a:t>t̅t: reconstructed mass sits at the top scale,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χ²/ndof = 0.81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 — the best agreement in this study. ZZ: dijet mass peaks cleanly at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mZ = 91 GeV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.</a:t>
            </a:r>
          </a:p>
        </p:txBody>
      </p:sp>
      <p:pic>
        <p:nvPicPr>
          <p:cNvPr id="11" name="Picture 10" descr="feyn_tt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6162"/>
            <a:ext cx="3624986" cy="24488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043329"/>
            <a:ext cx="362498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718096"/>
                </a:solidFill>
                <a:latin typeface="Helvetica Neue"/>
              </a:rPr>
              <a:t>t̅t production</a:t>
            </a:r>
          </a:p>
        </p:txBody>
      </p:sp>
      <p:pic>
        <p:nvPicPr>
          <p:cNvPr id="13" name="Picture 12" descr="10_mass_ttbar_365G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354" y="2290527"/>
            <a:ext cx="3624986" cy="3020149"/>
          </a:xfrm>
          <a:prstGeom prst="rect">
            <a:avLst/>
          </a:prstGeom>
        </p:spPr>
      </p:pic>
      <p:pic>
        <p:nvPicPr>
          <p:cNvPr id="14" name="Picture 13" descr="11_mass_zz_365Ge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9508" y="2290527"/>
            <a:ext cx="3624986" cy="30201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Helvetica Neue"/>
              </a:rPr>
              <a:t>From SM identification to the excess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B9C4D6"/>
                </a:solidFill>
                <a:latin typeface="Helvetica Neue"/>
              </a:rPr>
              <a:t>Once the samples are identified, can the SM explain the observed structure?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0" y="3977639"/>
            <a:ext cx="1920240" cy="0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404164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Helvetica Neue"/>
              </a:rPr>
              <a:t>Next: </a:t>
            </a:r>
            <a:r>
              <a:rPr sz="1300" b="1">
                <a:solidFill>
                  <a:srgbClr val="FFFFFF"/>
                </a:solidFill>
                <a:latin typeface="Helvetica Neue"/>
              </a:rPr>
              <a:t>Andrea Maria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26561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Helvetica Neue"/>
              </a:rPr>
              <a:t>The SM alone doesn't explain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9144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9C4D6"/>
                </a:solidFill>
                <a:latin typeface="Helvetica Neue"/>
              </a:rPr>
              <a:t>EVIDENCE · BOTH ENERGIES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6446520"/>
            <a:ext cx="1219169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830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18096"/>
                </a:solidFill>
                <a:latin typeface="Helvetica Neue"/>
              </a:rPr>
              <a:t>FCC-ee CLD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047" y="648309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102E"/>
                </a:solidFill>
                <a:latin typeface="Helvetica Neue"/>
              </a:rPr>
              <a:t>Andrea Maria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8309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Helvetica Neue"/>
              </a:rPr>
              <a:t>Slide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77295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Helvetica Neue"/>
              </a:rPr>
              <a:t>Sum every identified SM process and compare to the reported points. At both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91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 and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365 GeV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 the excess sits far above that sum. This is why an interpretation is needed — step 2 becomes step 3.</a:t>
            </a:r>
          </a:p>
        </p:txBody>
      </p:sp>
      <p:pic>
        <p:nvPicPr>
          <p:cNvPr id="11" name="Picture 10" descr="16_completeness_91G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792" y="1520444"/>
            <a:ext cx="5390470" cy="45603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4792" y="6099048"/>
            <a:ext cx="539047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718096"/>
                </a:solidFill>
                <a:latin typeface="Helvetica Neue"/>
              </a:rPr>
              <a:t>91 GeV</a:t>
            </a:r>
          </a:p>
        </p:txBody>
      </p:sp>
      <p:pic>
        <p:nvPicPr>
          <p:cNvPr id="13" name="Picture 12" descr="17_completeness_365G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1" y="1520444"/>
            <a:ext cx="5390470" cy="45603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96431" y="6099048"/>
            <a:ext cx="539047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718096"/>
                </a:solidFill>
                <a:latin typeface="Helvetica Neue"/>
              </a:rPr>
              <a:t>365 GeV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26561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Helvetica Neue"/>
              </a:rPr>
              <a:t>An excess, not an SM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9144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9C4D6"/>
                </a:solidFill>
                <a:latin typeface="Helvetica Neue"/>
              </a:rPr>
              <a:t>BSM · 91 GEV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6446520"/>
            <a:ext cx="1219169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830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18096"/>
                </a:solidFill>
                <a:latin typeface="Helvetica Neue"/>
              </a:rPr>
              <a:t>FCC-ee CLD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047" y="648309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102E"/>
                </a:solidFill>
                <a:latin typeface="Helvetica Neue"/>
              </a:rPr>
              <a:t>Andrea Maria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8309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Helvetica Neue"/>
              </a:rPr>
              <a:t>Slide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5568"/>
                </a:solidFill>
                <a:latin typeface="Helvetica Neue"/>
              </a:rPr>
              <a:t>Excess</a:t>
            </a:r>
            <a:r>
              <a:rPr sz="1100">
                <a:solidFill>
                  <a:srgbClr val="C8102E"/>
                </a:solidFill>
                <a:latin typeface="Helvetica Neue"/>
              </a:rPr>
              <a:t>   →   </a:t>
            </a:r>
            <a:r>
              <a:rPr sz="1100">
                <a:solidFill>
                  <a:srgbClr val="4A5568"/>
                </a:solidFill>
                <a:latin typeface="Helvetica Neue"/>
              </a:rPr>
              <a:t>Reconstruction</a:t>
            </a:r>
            <a:r>
              <a:rPr sz="1100">
                <a:solidFill>
                  <a:srgbClr val="C8102E"/>
                </a:solidFill>
                <a:latin typeface="Helvetica Neue"/>
              </a:rPr>
              <a:t>   →   </a:t>
            </a:r>
            <a:r>
              <a:rPr sz="1100">
                <a:solidFill>
                  <a:srgbClr val="4A5568"/>
                </a:solidFill>
                <a:latin typeface="Helvetica Neue"/>
              </a:rPr>
              <a:t>H1: flat bkg</a:t>
            </a:r>
            <a:r>
              <a:rPr sz="1100">
                <a:solidFill>
                  <a:srgbClr val="C8102E"/>
                </a:solidFill>
                <a:latin typeface="Helvetica Neue"/>
              </a:rPr>
              <a:t>   →   </a:t>
            </a:r>
            <a:r>
              <a:rPr sz="1100">
                <a:solidFill>
                  <a:srgbClr val="4A5568"/>
                </a:solidFill>
                <a:latin typeface="Helvetica Neue"/>
              </a:rPr>
              <a:t>H0: HNL, m≈40</a:t>
            </a:r>
            <a:r>
              <a:rPr sz="1100">
                <a:solidFill>
                  <a:srgbClr val="C8102E"/>
                </a:solidFill>
                <a:latin typeface="Helvetica Neue"/>
              </a:rPr>
              <a:t>   →   </a:t>
            </a:r>
            <a:r>
              <a:rPr sz="1100">
                <a:solidFill>
                  <a:srgbClr val="4A5568"/>
                </a:solidFill>
                <a:latin typeface="Helvetica Neue"/>
              </a:rPr>
              <a:t>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77295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Helvetica Neue"/>
              </a:rPr>
              <a:t>Tight selection: MET pT&gt;3 GeV, ≥1 lepton, small impact parameter. A lepton+jet excess appears. Proposed: a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Heavy Neutral Lepton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, mass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≈40 GeV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. The resonance hypothesis fits better than a flat background: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χ²/ndof 4.47 vs. 5.81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.</a:t>
            </a:r>
          </a:p>
        </p:txBody>
      </p:sp>
      <p:pic>
        <p:nvPicPr>
          <p:cNvPr id="12" name="Picture 11" descr="feyn_hnl_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33" y="2624693"/>
            <a:ext cx="5538063" cy="26444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3933" y="5287406"/>
            <a:ext cx="553806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718096"/>
                </a:solidFill>
                <a:latin typeface="Helvetica Neue"/>
              </a:rPr>
              <a:t>HNL at a Z-factory</a:t>
            </a:r>
          </a:p>
        </p:txBody>
      </p:sp>
      <p:pic>
        <p:nvPicPr>
          <p:cNvPr id="14" name="Picture 13" descr="01_hnl_91GeV_hypothesis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164" y="1813052"/>
            <a:ext cx="5044596" cy="42677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26561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Helvetica Neue"/>
              </a:rPr>
              <a:t>An independent cross-check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9144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9C4D6"/>
                </a:solidFill>
                <a:latin typeface="Helvetica Neue"/>
              </a:rPr>
              <a:t>BSM · 91 GEV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6446520"/>
            <a:ext cx="1219169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830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18096"/>
                </a:solidFill>
                <a:latin typeface="Helvetica Neue"/>
              </a:rPr>
              <a:t>FCC-ee CLD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047" y="648309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102E"/>
                </a:solidFill>
                <a:latin typeface="Helvetica Neue"/>
              </a:rPr>
              <a:t>Andrea Maria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8309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Helvetica Neue"/>
              </a:rPr>
              <a:t>Slide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77295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Helvetica Neue"/>
              </a:rPr>
              <a:t>A second, independent variable — missing energy itself — agrees with the same hypothesis: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χ²/ndof = 1.14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. This isn't the same test twice.</a:t>
            </a:r>
          </a:p>
        </p:txBody>
      </p:sp>
      <p:pic>
        <p:nvPicPr>
          <p:cNvPr id="11" name="Picture 10" descr="03_HNL_metpt_91G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858" y="1520444"/>
            <a:ext cx="5747977" cy="47889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26561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Helvetica Neue"/>
              </a:rPr>
              <a:t>Significance of the excess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9144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9C4D6"/>
                </a:solidFill>
                <a:latin typeface="Helvetica Neue"/>
              </a:rPr>
              <a:t>BSM · 91 GEV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6446520"/>
            <a:ext cx="1219169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830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18096"/>
                </a:solidFill>
                <a:latin typeface="Helvetica Neue"/>
              </a:rPr>
              <a:t>FCC-ee CLD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047" y="648309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102E"/>
                </a:solidFill>
                <a:latin typeface="Helvetica Neue"/>
              </a:rPr>
              <a:t>Andrea Maria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8309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Helvetica Neue"/>
              </a:rPr>
              <a:t>Slide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77295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Helvetica Neue"/>
              </a:rPr>
              <a:t>The source quotes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7σ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 as the headline significance for the 91 GeV excess. Our recomputation, shown below, converges toward the same value. No look-elsewhere correction is applied — we don't have a real trials count.</a:t>
            </a:r>
          </a:p>
        </p:txBody>
      </p:sp>
      <p:pic>
        <p:nvPicPr>
          <p:cNvPr id="11" name="Picture 10" descr="04_significance_hierarchy_91G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269" y="1520444"/>
            <a:ext cx="6307155" cy="47889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Helvetica Neue"/>
              </a:rPr>
              <a:t>The excess at 365 GeV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B9C4D6"/>
                </a:solidFill>
                <a:latin typeface="Helvetica Neue"/>
              </a:rPr>
              <a:t>Testing reconstruction and background hypotheses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0" y="3977639"/>
            <a:ext cx="1920240" cy="0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404164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Helvetica Neue"/>
              </a:rPr>
              <a:t>Next: </a:t>
            </a:r>
            <a:r>
              <a:rPr sz="1300" b="1">
                <a:solidFill>
                  <a:srgbClr val="FFFFFF"/>
                </a:solidFill>
                <a:latin typeface="Helvetica Neue"/>
              </a:rPr>
              <a:t>Jurjan Bootsma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26561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Helvetica Neue"/>
              </a:rPr>
              <a:t>The excess, and the original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9144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9C4D6"/>
                </a:solidFill>
                <a:latin typeface="Helvetica Neue"/>
              </a:rPr>
              <a:t>BSM · 365 GEV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6446520"/>
            <a:ext cx="1219169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830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18096"/>
                </a:solidFill>
                <a:latin typeface="Helvetica Neue"/>
              </a:rPr>
              <a:t>FCC-ee CLD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047" y="648309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102E"/>
                </a:solidFill>
                <a:latin typeface="Helvetica Neue"/>
              </a:rPr>
              <a:t>Jurjan Bootsma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8309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Helvetica Neue"/>
              </a:rPr>
              <a:t>Slide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77295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Helvetica Neue"/>
              </a:rPr>
              <a:t>Tighter selection again: low MET,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≥2 jets, ≥2 leptons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, Z-veto, b-veto. Original method: hadronic-W channel, one jet assumed, a fixed pairing m(j₂,j₃). The source itself flags this: </a:t>
            </a:r>
            <a:r>
              <a:rPr sz="1500" i="1" b="0">
                <a:solidFill>
                  <a:srgbClr val="222222"/>
                </a:solidFill>
                <a:latin typeface="Helvetica Neue"/>
              </a:rPr>
              <a:t>“sub-optimal pairing might lead to large spread.”</a:t>
            </a:r>
          </a:p>
        </p:txBody>
      </p:sp>
      <p:pic>
        <p:nvPicPr>
          <p:cNvPr id="11" name="Picture 10" descr="feyn_hnl_3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85" y="1520444"/>
            <a:ext cx="8533924" cy="45603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28885" y="6099048"/>
            <a:ext cx="85339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718096"/>
                </a:solidFill>
                <a:latin typeface="Helvetica Neue"/>
              </a:rPr>
              <a:t>Production and decay, slide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26561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C8102E"/>
                </a:solidFill>
                <a:latin typeface="Helvetica Neue"/>
              </a:rPr>
              <a:t>[CURRENT ANALYSIS] </a:t>
            </a:r>
            <a:r>
              <a:rPr sz="2000" b="1">
                <a:solidFill>
                  <a:srgbClr val="FFFFFF"/>
                </a:solidFill>
                <a:latin typeface="Helvetica Neue"/>
              </a:rPr>
              <a:t>Testing the pairing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9144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9C4D6"/>
                </a:solidFill>
                <a:latin typeface="Helvetica Neue"/>
              </a:rPr>
              <a:t>BSM · 365 GEV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6446520"/>
            <a:ext cx="1219169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830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18096"/>
                </a:solidFill>
                <a:latin typeface="Helvetica Neue"/>
              </a:rPr>
              <a:t>FCC-ee CLD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047" y="648309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102E"/>
                </a:solidFill>
                <a:latin typeface="Helvetica Neue"/>
              </a:rPr>
              <a:t>Jurjan Bootsma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8309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Helvetica Neue"/>
              </a:rPr>
              <a:t>Slide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77295" cy="7759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Helvetica Neue"/>
              </a:rPr>
              <a:t>Four jets give three candidate pairings. The fixed original pairing is correct only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33%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 of the time by construction. Picking the pairing closest to mW instead gets it right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88%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 of the time, and both peaks narrow sharply. This is evidence the original pairing can mis-associate jets — it supports better reconstruction, not an HNL by itself.</a:t>
            </a:r>
          </a:p>
        </p:txBody>
      </p:sp>
      <p:pic>
        <p:nvPicPr>
          <p:cNvPr id="11" name="Picture 10" descr="05_W_mass_365G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73" y="1745233"/>
            <a:ext cx="5203790" cy="43355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1473" y="6099048"/>
            <a:ext cx="520379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718096"/>
                </a:solidFill>
                <a:latin typeface="Helvetica Neue"/>
              </a:rPr>
              <a:t>Naive = original · Constrained = current analysis</a:t>
            </a:r>
          </a:p>
        </p:txBody>
      </p:sp>
      <p:pic>
        <p:nvPicPr>
          <p:cNvPr id="13" name="Picture 12" descr="06_HNL_mass_365G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1" y="1745233"/>
            <a:ext cx="5203790" cy="433552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26561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Helvetica Neue"/>
              </a:rPr>
              <a:t>Resonance vs. SM-tail, and significance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9144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9C4D6"/>
                </a:solidFill>
                <a:latin typeface="Helvetica Neue"/>
              </a:rPr>
              <a:t>BSM · 365 GEV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6446520"/>
            <a:ext cx="1219169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830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18096"/>
                </a:solidFill>
                <a:latin typeface="Helvetica Neue"/>
              </a:rPr>
              <a:t>FCC-ee CLD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047" y="648309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102E"/>
                </a:solidFill>
                <a:latin typeface="Helvetica Neue"/>
              </a:rPr>
              <a:t>Jurjan Bootsma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8309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Helvetica Neue"/>
              </a:rPr>
              <a:t>Slide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77295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Helvetica Neue"/>
              </a:rPr>
              <a:t>Resonance vs. a mis-measured ZZ/WW tail: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χ²/ndof 4.12 vs. 215.55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 — this specific SM-tail model is disfavoured. Quoted significance: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6.46σ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. The background behind that number isn't established in the source.</a:t>
            </a:r>
          </a:p>
        </p:txBody>
      </p:sp>
      <p:pic>
        <p:nvPicPr>
          <p:cNvPr id="11" name="Picture 10" descr="07_hnl_365GeV_alternative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2312"/>
            <a:ext cx="5538063" cy="4685178"/>
          </a:xfrm>
          <a:prstGeom prst="rect">
            <a:avLst/>
          </a:prstGeom>
        </p:spPr>
      </p:pic>
      <p:pic>
        <p:nvPicPr>
          <p:cNvPr id="12" name="Picture 11" descr="08_significance_hierarchy_365G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1" y="1785153"/>
            <a:ext cx="5538063" cy="42594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Helvetica Neue"/>
              </a:rPr>
              <a:t>What has been established -- and what remains open?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B9C4D6"/>
                </a:solidFill>
                <a:latin typeface="Helvetica Neue"/>
              </a:rPr>
              <a:t>Consistency, caveats, and conclusions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0" y="3977639"/>
            <a:ext cx="1920240" cy="0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404164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Helvetica Neue"/>
              </a:rPr>
              <a:t>Next: </a:t>
            </a:r>
            <a:r>
              <a:rPr sz="1300" b="1">
                <a:solidFill>
                  <a:srgbClr val="FFFFFF"/>
                </a:solidFill>
                <a:latin typeface="Helvetica Neue"/>
              </a:rPr>
              <a:t>Jurjan Bootsma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26561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Helvetica Neue"/>
              </a:rPr>
              <a:t>Open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9144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9C4D6"/>
                </a:solidFill>
                <a:latin typeface="Helvetica Neue"/>
              </a:rPr>
              <a:t>CONSISTENCY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6446520"/>
            <a:ext cx="1219169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830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18096"/>
                </a:solidFill>
                <a:latin typeface="Helvetica Neue"/>
              </a:rPr>
              <a:t>FCC-ee CLD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047" y="648309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102E"/>
                </a:solidFill>
                <a:latin typeface="Helvetica Neue"/>
              </a:rPr>
              <a:t>Jurjan Bootsma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8309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Helvetica Neue"/>
              </a:rPr>
              <a:t>Slide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6761"/>
            <a:ext cx="11277295" cy="16319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indent="-201168" marL="201168">
              <a:lnSpc>
                <a:spcPct val="118000"/>
              </a:lnSpc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C8102E"/>
                </a:solidFill>
                <a:latin typeface="Helvetica Neue"/>
              </a:rPr>
              <a:t>40 GeV vs. 150 GeV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: two HNL masses. One particle has one mass. This is open, not explained away.</a:t>
            </a:r>
          </a:p>
          <a:p>
            <a:pPr indent="-201168" marL="201168">
              <a:lnSpc>
                <a:spcPct val="118000"/>
              </a:lnSpc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Helvetica Neue"/>
              </a:rPr>
              <a:t>365 GeV background normalisation: not established.</a:t>
            </a:r>
          </a:p>
          <a:p>
            <a:pPr indent="-201168" marL="201168">
              <a:lnSpc>
                <a:spcPct val="118000"/>
              </a:lnSpc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Helvetica Neue"/>
              </a:rPr>
              <a:t>No look-elsewhere trial count is available, so none is applied.</a:t>
            </a:r>
          </a:p>
          <a:p>
            <a:pPr indent="-201168" marL="201168">
              <a:lnSpc>
                <a:spcPct val="118000"/>
              </a:lnSpc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Helvetica Neue"/>
              </a:rPr>
              <a:t>Every cut efficiency shown is a toy assumption.</a:t>
            </a:r>
          </a:p>
          <a:p>
            <a:pPr indent="-201168" marL="201168">
              <a:lnSpc>
                <a:spcPct val="118000"/>
              </a:lnSpc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Helvetica Neue"/>
              </a:rPr>
              <a:t>Rejecting one background model is not proof of an HNL.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26561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Helvetica Neue"/>
              </a:rPr>
              <a:t>χ² per SM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9144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9C4D6"/>
                </a:solidFill>
                <a:latin typeface="Helvetica Neue"/>
              </a:rPr>
              <a:t>CONCLUSIONS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6446520"/>
            <a:ext cx="1219169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830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18096"/>
                </a:solidFill>
                <a:latin typeface="Helvetica Neue"/>
              </a:rPr>
              <a:t>FCC-ee CLD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047" y="648309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102E"/>
                </a:solidFill>
                <a:latin typeface="Helvetica Neue"/>
              </a:rPr>
              <a:t>Andrea Maria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8309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Helvetica Neue"/>
              </a:rPr>
              <a:t>Slide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77295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Helvetica Neue"/>
              </a:rPr>
              <a:t>All five 365 GeV processes and both 160 GeV processes now have a toy-vs-pseudo-data comparison — every value traceable to this repo's code.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520444"/>
          <a:ext cx="8412480" cy="2304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003366"/>
                          </a:solidFill>
                          <a:latin typeface="Helvetica Neue"/>
                        </a:rPr>
                        <a:t>Process (365 GeV)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003366"/>
                          </a:solidFill>
                          <a:latin typeface="Helvetica Neue"/>
                        </a:rPr>
                        <a:t>χ²/ndof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t̅t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0.81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ZZ → ℓℓqq̅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8.40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e⁺e⁻ → ff̅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5.17†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ZH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3.89†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WW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26.22†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3989324"/>
          <a:ext cx="8412480" cy="11521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003366"/>
                          </a:solidFill>
                          <a:latin typeface="Helvetica Neue"/>
                        </a:rPr>
                        <a:t>Process (160 GeV)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003366"/>
                          </a:solidFill>
                          <a:latin typeface="Helvetica Neue"/>
                        </a:rPr>
                        <a:t>χ²/ndof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Higgs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37.77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WW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1.84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5187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i="0">
                <a:solidFill>
                  <a:srgbClr val="718096"/>
                </a:solidFill>
                <a:latin typeface="Helvetica Neue"/>
              </a:rPr>
              <a:t>† second-pass digitisation, lower precision than the other rows (see PROVENANCE_AUDIT.md).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26561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Helvetica Neue"/>
              </a:rPr>
              <a:t>Flat vs. resonant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9144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9C4D6"/>
                </a:solidFill>
                <a:latin typeface="Helvetica Neue"/>
              </a:rPr>
              <a:t>CONCLUSIONS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6446520"/>
            <a:ext cx="1219169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830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18096"/>
                </a:solidFill>
                <a:latin typeface="Helvetica Neue"/>
              </a:rPr>
              <a:t>FCC-ee CLD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047" y="648309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102E"/>
                </a:solidFill>
                <a:latin typeface="Helvetica Neue"/>
              </a:rPr>
              <a:t>Andrea Maria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8309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Helvetica Neue"/>
              </a:rPr>
              <a:t>Slide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11277295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Helvetica Neue"/>
              </a:rPr>
              <a:t>At both energies the resonance hypothesis fits better than the flat/SM-tail alternative tested. That supports the interpretation. It doesn't prove it.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520444"/>
          <a:ext cx="8412480" cy="2304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40480"/>
                <a:gridCol w="2286000"/>
                <a:gridCol w="22860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003366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003366"/>
                          </a:solidFill>
                          <a:latin typeface="Helvetica Neue"/>
                        </a:rPr>
                        <a:t>91 GeV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003366"/>
                          </a:solidFill>
                          <a:latin typeface="Helvetica Neue"/>
                        </a:rPr>
                        <a:t>365 GeV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Resonance (H0) χ²/ndof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4.47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4.12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Flat / SM-tail (H1) χ²/ndof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5.81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215.55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Reconstructed mass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≈40 GeV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≈150 GeV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Quoted significance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7σ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6.46σ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Jet mis-association (365 only)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Helvetica Neue"/>
                        </a:rPr>
                        <a:t>33% → 88%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26561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Helvetica Neue"/>
              </a:rPr>
              <a:t>Where this leaves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4015" y="9144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9C4D6"/>
                </a:solidFill>
                <a:latin typeface="Helvetica Neue"/>
              </a:rPr>
              <a:t>CONCLUSIONS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6446520"/>
            <a:ext cx="12191695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830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18096"/>
                </a:solidFill>
                <a:latin typeface="Helvetica Neue"/>
              </a:rPr>
              <a:t>FCC-ee CLD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047" y="648309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8102E"/>
                </a:solidFill>
                <a:latin typeface="Helvetica Neue"/>
              </a:rPr>
              <a:t>Jurjan Bootsma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8309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Helvetica Neue"/>
              </a:rPr>
              <a:t>Slide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14751"/>
            <a:ext cx="11277295" cy="7759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Helvetica Neue"/>
              </a:rPr>
              <a:t>Five SM processes at 365 GeV, two at 160 GeV, each traceable. Two excesses, both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consistent with</a:t>
            </a:r>
            <a:r>
              <a:rPr sz="1500" b="0">
                <a:solidFill>
                  <a:srgbClr val="222222"/>
                </a:solidFill>
                <a:latin typeface="Helvetica Neue"/>
              </a:rPr>
              <a:t> a resonance hypothesis, both with open caveats. FCC-ee's precision lets small, careful excesses be taken seriously — if every claim stays traceable. So: </a:t>
            </a:r>
            <a:r>
              <a:rPr sz="1500" b="1">
                <a:solidFill>
                  <a:srgbClr val="C8102E"/>
                </a:solidFill>
                <a:latin typeface="Helvetica Neue"/>
              </a:rPr>
              <a:t>what do you think is really in there?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